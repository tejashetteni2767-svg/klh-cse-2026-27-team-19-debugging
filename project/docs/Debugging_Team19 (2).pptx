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3"/>
  </p:notesMasterIdLst>
  <p:handoutMasterIdLst>
    <p:handoutMasterId r:id="rId14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7" r:id="rId10"/>
    <p:sldId id="374" r:id="rId11"/>
    <p:sldId id="33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>
      <p:cViewPr varScale="1">
        <p:scale>
          <a:sx n="83" d="100"/>
          <a:sy n="83" d="100"/>
        </p:scale>
        <p:origin x="72" y="2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11-09-2026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11-09-2026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11-09-2026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11-09-2026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11-09-2026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11-09-2026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11-09-2026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11-09-2026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274" y="340555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800" b="1" dirty="0"/>
              <a:t>Debugging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Operating Systems and Systems Programming (25CS2104E)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Section 4 – Team 19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DEBUGGING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653191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2520030418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A. CHARAN TEJA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2520030419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S. TEJA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2520030475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E. ASHWITH REDDY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TEAM NUMBER: 19  |  SECTION 4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6360399"/>
              </p:ext>
            </p:extLst>
          </p:nvPr>
        </p:nvGraphicFramePr>
        <p:xfrm>
          <a:off x="1251334" y="1548396"/>
          <a:ext cx="10091450" cy="34226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029658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061792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618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 (Roll No.)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Individual Responsibility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8861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CHARAN TEJA (2520030418)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/>
                        <a:t>Process creation and execution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886171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TEJA (2520030419)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</a:p>
                    <a:p>
                      <a:pPr algn="ctr"/>
                      <a:r>
                        <a:rPr lang="en-US" dirty="0"/>
                        <a:t>Debugging and ptrace() implementation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8861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E. ASHWITH REDDY (2520030475)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        User interface, testing, documentation &amp; GitHub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is an essential activity in software development, used to identify and fix errors in programs. This project designs and implements a lightweight Linux-based debugger in C, using Linux system calls to execute a program under control, set breakpoints, inspect registers, view memory, and trace system calls.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debugger uses Linux APIs such as fork(), exec(), wait(), and ptrace() to monitor and control a target process, applying concepts like process management, signals, and system programming through a command-line interface that lets users start, pause, continue, and inspect the program.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INTRODUCTION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is a core activity in software development, used to identify and fix errors in programs. Understanding the operating system concepts behind debugging — process control, system calls, and signals — is as important as using debugging tools themselves.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explains how a lightweight Linux-based debugger works, using C programming and Linux system calls: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debugger uses fork() and exec() to create and run a target process. 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ptrace() allows the debugger to monitor and control the child process. 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Breakpoints, register inspection, and memory viewing are implemented using system calls. 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wait() and signal handling keep the debugger synchronized with the target process. 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debugger offers a command-line interface to start, pause, continue, and inspect execution.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debuggers such as GDB are powerful but complex for beginners to learn and use.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largely hide the internal operating system mechanisms behind debugging.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often struggle to identify program errors, memory issues, and unexpected behavior.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limited exposure to how process control and system calls actually enable debugging.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Beginners rarely get hands-on experience with ptrace(), fork(), or signal handling.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gap makes it difficult to connect debugging tools with core operating systems concepts.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PROPOSED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is a lightweight Linux-based debugger implemented in C on Ubuntu Linux, using fork(), exec(), wait(), and ptrace() to monitor and control a target process.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objectives of the proposed system are: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command-line debugger for Linux systems. 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fork() and exec() to create and execute target processes. 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ptrace() to monitor and control program execution. 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breakpoint handling and inspect CPU registers and memory contents. 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wait() and signal handling for process synchronization. 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user commands to start, pause, continue, and inspect a target program.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WORK FLOW / STRUCTURE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838200" y="1750000"/>
            <a:ext cx="2457450" cy="1450000"/>
          </a:xfrm>
          <a:prstGeom prst="roundRect">
            <a:avLst/>
          </a:prstGeom>
          <a:solidFill>
            <a:srgbClr val="EAF3FB"/>
          </a:solidFill>
          <a:ln w="222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60000" rIns="90000" bIns="60000" rtlCol="0" anchor="ctr"/>
          <a:lstStyle/>
          <a:p>
            <a:pPr algn="ctr"/>
            <a:r>
              <a:rPr sz="1300" b="1">
                <a:solidFill>
                  <a:srgbClr val="0070C0"/>
                </a:solidFill>
                <a:latin typeface="Calibri"/>
              </a:rPr>
              <a:t>STEP 1 • Launch Debugger</a:t>
            </a:r>
          </a:p>
          <a:p>
            <a:pPr algn="ctr"/>
            <a:r>
              <a:rPr sz="1100" b="0">
                <a:solidFill>
                  <a:srgbClr val="1A2B3C"/>
                </a:solidFill>
                <a:latin typeface="Calibri"/>
              </a:rPr>
              <a:t>User starts the debugger with a target program from the Linux terminal.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4250" y="1750000"/>
            <a:ext cx="2457450" cy="1450000"/>
          </a:xfrm>
          <a:prstGeom prst="roundRect">
            <a:avLst/>
          </a:prstGeom>
          <a:solidFill>
            <a:srgbClr val="EAF3FB"/>
          </a:solidFill>
          <a:ln w="222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60000" rIns="90000" bIns="60000" rtlCol="0" anchor="ctr"/>
          <a:lstStyle/>
          <a:p>
            <a:pPr algn="ctr"/>
            <a:r>
              <a:rPr sz="1300" b="1">
                <a:solidFill>
                  <a:srgbClr val="0070C0"/>
                </a:solidFill>
                <a:latin typeface="Calibri"/>
              </a:rPr>
              <a:t>STEP 2 • fork()</a:t>
            </a:r>
          </a:p>
          <a:p>
            <a:pPr algn="ctr"/>
            <a:r>
              <a:rPr sz="1100" b="0">
                <a:solidFill>
                  <a:srgbClr val="1A2B3C"/>
                </a:solidFill>
                <a:latin typeface="Calibri"/>
              </a:rPr>
              <a:t>Debugger uses fork() to create a child process for the target program.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300" y="1750000"/>
            <a:ext cx="2457450" cy="1450000"/>
          </a:xfrm>
          <a:prstGeom prst="roundRect">
            <a:avLst/>
          </a:prstGeom>
          <a:solidFill>
            <a:srgbClr val="EAF3FB"/>
          </a:solidFill>
          <a:ln w="222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60000" rIns="90000" bIns="60000" rtlCol="0" anchor="ctr"/>
          <a:lstStyle/>
          <a:p>
            <a:pPr algn="ctr"/>
            <a:r>
              <a:rPr sz="1300" b="1">
                <a:solidFill>
                  <a:srgbClr val="0070C0"/>
                </a:solidFill>
                <a:latin typeface="Calibri"/>
              </a:rPr>
              <a:t>STEP 3 • ptrace() + exec()</a:t>
            </a:r>
          </a:p>
          <a:p>
            <a:pPr algn="ctr"/>
            <a:r>
              <a:rPr sz="1100" b="0">
                <a:solidFill>
                  <a:srgbClr val="1A2B3C"/>
                </a:solidFill>
                <a:latin typeface="Calibri"/>
              </a:rPr>
              <a:t>Child process is controlled with ptrace() before exec() runs the target.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96350" y="1750000"/>
            <a:ext cx="2457450" cy="1450000"/>
          </a:xfrm>
          <a:prstGeom prst="roundRect">
            <a:avLst/>
          </a:prstGeom>
          <a:solidFill>
            <a:srgbClr val="EAF3FB"/>
          </a:solidFill>
          <a:ln w="222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60000" rIns="90000" bIns="60000" rtlCol="0" anchor="ctr"/>
          <a:lstStyle/>
          <a:p>
            <a:pPr algn="ctr"/>
            <a:r>
              <a:rPr sz="1300" b="1">
                <a:solidFill>
                  <a:srgbClr val="0070C0"/>
                </a:solidFill>
                <a:latin typeface="Calibri"/>
              </a:rPr>
              <a:t>STEP 4 • wait()</a:t>
            </a:r>
          </a:p>
          <a:p>
            <a:pPr algn="ctr"/>
            <a:r>
              <a:rPr sz="1100" b="0">
                <a:solidFill>
                  <a:srgbClr val="1A2B3C"/>
                </a:solidFill>
                <a:latin typeface="Calibri"/>
              </a:rPr>
              <a:t>Parent (debugger) uses wait() to synchronize with the child process.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96350" y="3850000"/>
            <a:ext cx="2457450" cy="1450000"/>
          </a:xfrm>
          <a:prstGeom prst="roundRect">
            <a:avLst/>
          </a:prstGeom>
          <a:solidFill>
            <a:srgbClr val="EAF3FB"/>
          </a:solidFill>
          <a:ln w="222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60000" rIns="90000" bIns="60000" rtlCol="0" anchor="ctr"/>
          <a:lstStyle/>
          <a:p>
            <a:pPr algn="ctr"/>
            <a:r>
              <a:rPr sz="1300" b="1">
                <a:solidFill>
                  <a:srgbClr val="0070C0"/>
                </a:solidFill>
                <a:latin typeface="Calibri"/>
              </a:rPr>
              <a:t>STEP 5 • Breakpoints &amp; Inspect</a:t>
            </a:r>
          </a:p>
          <a:p>
            <a:pPr algn="ctr"/>
            <a:r>
              <a:rPr sz="1100" b="0">
                <a:solidFill>
                  <a:srgbClr val="1A2B3C"/>
                </a:solidFill>
                <a:latin typeface="Calibri"/>
              </a:rPr>
              <a:t>Debugger sets breakpoints and inspects registers/memory via ptrace().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300" y="3850000"/>
            <a:ext cx="2457450" cy="1450000"/>
          </a:xfrm>
          <a:prstGeom prst="roundRect">
            <a:avLst/>
          </a:prstGeom>
          <a:solidFill>
            <a:srgbClr val="EAF3FB"/>
          </a:solidFill>
          <a:ln w="222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60000" rIns="90000" bIns="60000" rtlCol="0" anchor="ctr"/>
          <a:lstStyle/>
          <a:p>
            <a:pPr algn="ctr"/>
            <a:r>
              <a:rPr sz="1300" b="1">
                <a:solidFill>
                  <a:srgbClr val="0070C0"/>
                </a:solidFill>
                <a:latin typeface="Calibri"/>
              </a:rPr>
              <a:t>STEP 6 • User Commands</a:t>
            </a:r>
          </a:p>
          <a:p>
            <a:pPr algn="ctr"/>
            <a:r>
              <a:rPr sz="1100" b="0">
                <a:solidFill>
                  <a:srgbClr val="1A2B3C"/>
                </a:solidFill>
                <a:latin typeface="Calibri"/>
              </a:rPr>
              <a:t>User issues commands to start, pause, continue, and inspect the program.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4250" y="3850000"/>
            <a:ext cx="2457450" cy="1450000"/>
          </a:xfrm>
          <a:prstGeom prst="roundRect">
            <a:avLst/>
          </a:prstGeom>
          <a:solidFill>
            <a:srgbClr val="EAF3FB"/>
          </a:solidFill>
          <a:ln w="222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60000" rIns="90000" bIns="60000" rtlCol="0" anchor="ctr"/>
          <a:lstStyle/>
          <a:p>
            <a:pPr algn="ctr"/>
            <a:r>
              <a:rPr sz="1300" b="1">
                <a:solidFill>
                  <a:srgbClr val="0070C0"/>
                </a:solidFill>
                <a:latin typeface="Calibri"/>
              </a:rPr>
              <a:t>STEP 7 • Compile &amp; Run</a:t>
            </a:r>
          </a:p>
          <a:p>
            <a:pPr algn="ctr"/>
            <a:r>
              <a:rPr sz="1100" b="0">
                <a:solidFill>
                  <a:srgbClr val="1A2B3C"/>
                </a:solidFill>
                <a:latin typeface="Calibri"/>
              </a:rPr>
              <a:t>Source is compiled with GCC and the executable is run from the terminal.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95650" y="2475000"/>
            <a:ext cx="228600" cy="0"/>
          </a:xfrm>
          <a:prstGeom prst="line">
            <a:avLst/>
          </a:prstGeom>
          <a:ln w="2857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81700" y="2475000"/>
            <a:ext cx="228600" cy="0"/>
          </a:xfrm>
          <a:prstGeom prst="line">
            <a:avLst/>
          </a:prstGeom>
          <a:ln w="2857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667750" y="2475000"/>
            <a:ext cx="228600" cy="0"/>
          </a:xfrm>
          <a:prstGeom prst="line">
            <a:avLst/>
          </a:prstGeom>
          <a:ln w="2857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125075" y="3200000"/>
            <a:ext cx="0" cy="650000"/>
          </a:xfrm>
          <a:prstGeom prst="line">
            <a:avLst/>
          </a:prstGeom>
          <a:ln w="2857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667750" y="4575000"/>
            <a:ext cx="228600" cy="0"/>
          </a:xfrm>
          <a:prstGeom prst="line">
            <a:avLst/>
          </a:prstGeom>
          <a:ln w="2857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981700" y="4575000"/>
            <a:ext cx="228600" cy="0"/>
          </a:xfrm>
          <a:prstGeom prst="line">
            <a:avLst/>
          </a:prstGeom>
          <a:ln w="2857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8200" y="1382214"/>
            <a:ext cx="105156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1A2B3C"/>
                </a:solidFill>
                <a:latin typeface="Calibri"/>
              </a:rPr>
              <a:t>The debugger's workflow follows a clear sequence, from launching the target program to inspecting its execution step by step.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5530000"/>
            <a:ext cx="10515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0C0"/>
                </a:solidFill>
                <a:latin typeface="Calibri"/>
              </a:rPr>
              <a:t>This structure traces the complete path from process creation to debugging control, connecting fork(), exec(), ptrace(), and core OS concepts.</a:t>
            </a: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b="1" dirty="0"/>
              <a:t>Operating System:</a:t>
            </a:r>
            <a:r>
              <a:rPr lang="en-US" sz="2400" dirty="0"/>
              <a:t> Linux / Ubuntu </a:t>
            </a:r>
          </a:p>
          <a:p>
            <a:pPr lvl="0"/>
            <a:r>
              <a:rPr lang="en-US" sz="2400" b="1" dirty="0"/>
              <a:t>Programming Language:</a:t>
            </a:r>
            <a:r>
              <a:rPr lang="en-US" sz="2400" dirty="0"/>
              <a:t> C / C++ </a:t>
            </a:r>
          </a:p>
          <a:p>
            <a:pPr lvl="0"/>
            <a:r>
              <a:rPr lang="en-US" sz="2400" b="1" dirty="0"/>
              <a:t>Compiler:</a:t>
            </a:r>
            <a:r>
              <a:rPr lang="en-US" sz="2400" dirty="0"/>
              <a:t> GCC </a:t>
            </a:r>
          </a:p>
          <a:p>
            <a:pPr lvl="0"/>
            <a:r>
              <a:rPr lang="en-US" sz="2400" b="1" dirty="0"/>
              <a:t>Execution Environment:</a:t>
            </a:r>
            <a:r>
              <a:rPr lang="en-US" sz="2400" dirty="0"/>
              <a:t> Linux Terminal (Bash Shell) </a:t>
            </a:r>
          </a:p>
          <a:p>
            <a:pPr lvl="0"/>
            <a:r>
              <a:rPr lang="en-US" sz="2400" b="1" dirty="0"/>
              <a:t>Development Tool:</a:t>
            </a:r>
            <a:r>
              <a:rPr lang="en-US" sz="2400" dirty="0"/>
              <a:t> VS Code </a:t>
            </a:r>
          </a:p>
          <a:p>
            <a:pPr lvl="0"/>
            <a:r>
              <a:rPr lang="en-US" sz="2400" b="1" dirty="0"/>
              <a:t>Reference Debugger:</a:t>
            </a:r>
            <a:r>
              <a:rPr lang="en-US" sz="2400" dirty="0"/>
              <a:t> GDB (for comparison) </a:t>
            </a:r>
          </a:p>
          <a:p>
            <a:pPr lvl="0"/>
            <a:r>
              <a:rPr lang="en-US" sz="2400" b="1" dirty="0"/>
              <a:t>Version Control:</a:t>
            </a:r>
            <a:r>
              <a:rPr lang="en-US" sz="2400" dirty="0"/>
              <a:t> Git &amp; GitHub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CF8CEB-28D0-30F6-BB61-CEB08AE4ECD8}"/>
              </a:ext>
            </a:extLst>
          </p:cNvPr>
          <p:cNvSpPr txBox="1"/>
          <p:nvPr/>
        </p:nvSpPr>
        <p:spPr>
          <a:xfrm>
            <a:off x="539827" y="1299990"/>
            <a:ext cx="10256703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Conclusion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is a Linux-based system programming project demonstrating how operating system mechanisms support debugging tools. Using fork(), exec(), wait(), and ptrace(), the project implements a lightweight command-line debugger that sets breakpoints, inspects registers, views memory, and traces system calls, giving a clear practical understanding of process control and Linux internals</a:t>
            </a:r>
            <a:r>
              <a:rPr lang="en-US" sz="2400" dirty="0"/>
              <a:t>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symbolic debugging using debug information (e.g., DWARF).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breakpoint types, such as conditional breakpoints and watchpoints.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graphical or terminal-UI interface for easier interaction.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debugging multi-threaded processes.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error handling and crash analysis features.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to remote debugging over a network.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existing IDEs and build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>
                <a:solidFill>
                  <a:srgbClr val="0070C0"/>
                </a:solidFill>
              </a:rPr>
              <a:t>THANK </a:t>
            </a:r>
            <a:r>
              <a:rPr lang="en-IN" sz="4400" b="1" dirty="0">
                <a:solidFill>
                  <a:srgbClr val="0070C0"/>
                </a:solidFill>
              </a:rPr>
              <a:t>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8330</TotalTime>
  <Words>937</Words>
  <Application>Microsoft Office PowerPoint</Application>
  <PresentationFormat>Widescreen</PresentationFormat>
  <Paragraphs>121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Custom Design</vt:lpstr>
      <vt:lpstr> 1st  REVIEW Debugging </vt:lpstr>
      <vt:lpstr>TEAM NUMBER: 19  |  SECTION 4</vt:lpstr>
      <vt:lpstr>ABSTRACT</vt:lpstr>
      <vt:lpstr>INTRODUCTION</vt:lpstr>
      <vt:lpstr>EXISTING SYSTEM</vt:lpstr>
      <vt:lpstr>PROPOSED SYSTEM</vt:lpstr>
      <vt:lpstr>WORK FLOW / STRUCTURE</vt:lpstr>
      <vt:lpstr>SOFTWARE REQUIREMENTS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Teja Shetteni</cp:lastModifiedBy>
  <cp:revision>97</cp:revision>
  <dcterms:created xsi:type="dcterms:W3CDTF">2022-05-20T10:20:31Z</dcterms:created>
  <dcterms:modified xsi:type="dcterms:W3CDTF">2026-09-11T03:45:20Z</dcterms:modified>
</cp:coreProperties>
</file>